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 Mono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513" autoAdjust="0"/>
  </p:normalViewPr>
  <p:slideViewPr>
    <p:cSldViewPr snapToGrid="0">
      <p:cViewPr>
        <p:scale>
          <a:sx n="73" d="100"/>
          <a:sy n="73" d="100"/>
        </p:scale>
        <p:origin x="-2724" y="-13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3748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2e9dc15b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2e9dc15b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2e9dc15b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2e9dc15b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e9dc15b0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2e9dc15b0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2e9dc15b0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2e9dc15b0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2e9dc15b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2e9dc15b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2e9dc15b0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2e9dc15b0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2e9dc15b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2e9dc15b0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2e9dc15b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2e9dc15b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2e9dc15b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2e9dc15b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2e9dc15b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2e9dc15b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2e9dc15b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2e9dc15b0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2e9dc15b0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2e9dc15b0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8751"/>
            <a:ext cx="7543800" cy="1945481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6461760" cy="8001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114800"/>
            <a:ext cx="7659687" cy="8763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889647"/>
            <a:ext cx="6135687" cy="122515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52144"/>
            <a:ext cx="3657600" cy="34427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152144"/>
            <a:ext cx="3657600" cy="34427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3657600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365760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151335"/>
            <a:ext cx="3657600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1631156"/>
            <a:ext cx="365760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121658"/>
            <a:ext cx="7772400" cy="44577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572000"/>
            <a:ext cx="7772401" cy="4572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285750"/>
            <a:ext cx="7772400" cy="370713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4121458"/>
            <a:ext cx="7772400" cy="445970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4572000"/>
            <a:ext cx="7772400" cy="45948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1752600" cy="4388644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620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76200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4114800"/>
            <a:ext cx="68580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4236720"/>
            <a:ext cx="548640" cy="29718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 smtClean="0"/>
              <a:t>‹#›</a:t>
            </a:fld>
            <a:endParaRPr lang="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882821" y="2990850"/>
            <a:ext cx="177546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56152" y="1188720"/>
            <a:ext cx="18287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8E80666-FB37-4B36-9149-507F3B0178E3}" type="datetimeFigureOut">
              <a:rPr lang="en-US" smtClean="0"/>
              <a:pPr/>
              <a:t>12/24/2025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sdot/flight-delay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2608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dirty="0"/>
              <a:t>   FET445 Veri Madenciliği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-222069" y="2495006"/>
            <a:ext cx="9062869" cy="2716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UÇUŞ GECİKME TAHMİNİ</a:t>
            </a:r>
            <a:r>
              <a:rPr lang="tr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tr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0" lvl="0" indent="457200" rtl="0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tr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</a:t>
            </a:r>
            <a:r>
              <a:rPr lang="tr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tr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TURBULENCE</a:t>
            </a:r>
            <a:endParaRPr lang="tr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0" lvl="0" indent="457200" rtl="0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tr-TR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tr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outube link:</a:t>
            </a:r>
          </a:p>
          <a:p>
            <a:pPr marL="2286000" lvl="0" indent="457200" rtl="0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</a:t>
            </a:r>
            <a:r>
              <a:rPr lang="tr-TR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://www.youtube.com/watch?v=obqgXc4Q7BA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0" lvl="0" indent="457200" algn="l" rtl="0">
              <a:lnSpc>
                <a:spcPct val="87916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0" lvl="0" indent="457200" algn="r" rtl="0">
              <a:lnSpc>
                <a:spcPct val="8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tr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Tarih:21.12.2025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8820" y="10539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8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700" b="1" dirty="0">
                <a:latin typeface="Times New Roman"/>
                <a:ea typeface="Times New Roman"/>
                <a:cs typeface="Times New Roman"/>
                <a:sym typeface="Times New Roman"/>
              </a:rPr>
              <a:t>UÇUŞ</a:t>
            </a:r>
            <a:r>
              <a:rPr lang="tr" sz="2300" b="1" dirty="0">
                <a:latin typeface="Times New Roman"/>
                <a:ea typeface="Times New Roman"/>
                <a:cs typeface="Times New Roman"/>
                <a:sym typeface="Times New Roman"/>
              </a:rPr>
              <a:t> GECİKME TAHMİNİ</a:t>
            </a:r>
            <a:r>
              <a:rPr lang="tr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92176" y="653143"/>
            <a:ext cx="6021241" cy="3758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2400" b="1" dirty="0"/>
              <a:t>Problemin Açıklaması:</a:t>
            </a:r>
            <a:endParaRPr sz="2400" b="1" dirty="0"/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tr" sz="2400" dirty="0">
                <a:solidFill>
                  <a:schemeClr val="dk1"/>
                </a:solidFill>
              </a:rPr>
              <a:t>Havacılık sektöründe rötarlar, hem operasyonel maliyetleri artırıyor hem de yolcu memnuniyetini düşürüyor. Bizim amacımız; uçuş gerçekleşmeden önce, mevcut verileri sınıflandırma yöntemiyle uçağın rötar yapıp yapmayacağını önceden tahmin etmek.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031" y="1489167"/>
            <a:ext cx="3104561" cy="260930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2700" y="-522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800" b="1" dirty="0"/>
              <a:t>Veri Seti Açıklaması:</a:t>
            </a:r>
            <a:endParaRPr sz="2800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265375" y="455875"/>
            <a:ext cx="8520600" cy="45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Linki: </a:t>
            </a:r>
            <a:r>
              <a:rPr lang="tr" sz="24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https://www.kaggle.com/datasets/usdot/flight-delays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 Seti: ABD Ulaştırma Bakanlığı'na ait (US DOT) gerçek "Airline On-Time Performance" veri setini kullandık.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Yapı:</a:t>
            </a:r>
            <a:r>
              <a:rPr lang="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Üç tablo </a:t>
            </a:r>
            <a:r>
              <a:rPr lang="tr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flights.csv, airlines.csv, airports.csv</a:t>
            </a:r>
            <a:r>
              <a:rPr lang="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birleştirilerek kullanılmıştır.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Boyut:</a:t>
            </a:r>
            <a:r>
              <a:rPr lang="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5.8 milyon satır ve </a:t>
            </a:r>
            <a:r>
              <a:rPr lang="tr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</a:t>
            </a:r>
            <a:r>
              <a:rPr lang="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sütun.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8" name="Google Shape;68;p15" title="Ekran Resmi 2025-12-21 17.55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175" y="3641398"/>
            <a:ext cx="5133888" cy="100897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Size, özellik tipi 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99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40" y="841375"/>
            <a:ext cx="3743325" cy="3943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454" y="841375"/>
            <a:ext cx="3933901" cy="3943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Class Distribution (sınıflandırma ise) 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27200" cy="3589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Sınıf Dağılımı:</a:t>
            </a:r>
            <a:r>
              <a:rPr lang="t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 seti yüksek oranda dengesiz (imbalanced). Uçuşların çoğu zamanında kalkıyor, bu da modelin gecikmeleri öğrenmesini zorlaştırıyor.</a:t>
            </a:r>
            <a:endParaRPr sz="2400" dirty="0"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l="3818"/>
          <a:stretch/>
        </p:blipFill>
        <p:spPr>
          <a:xfrm>
            <a:off x="3635050" y="1273092"/>
            <a:ext cx="5234630" cy="326060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233322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dirty="0"/>
              <a:t>Temel </a:t>
            </a:r>
            <a:r>
              <a:rPr lang="tr" dirty="0" smtClean="0"/>
              <a:t>Kullanılan Teknikler </a:t>
            </a:r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90244" y="5323125"/>
            <a:ext cx="8520600" cy="38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466725" y="962025"/>
            <a:ext cx="2219325" cy="280076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" sz="1600" b="1" dirty="0">
                <a:solidFill>
                  <a:schemeClr val="dk1"/>
                </a:solidFill>
              </a:rPr>
              <a:t>Zaman Segmentasyonu </a:t>
            </a:r>
            <a:r>
              <a:rPr lang="tr" sz="1600" dirty="0" smtClean="0">
                <a:solidFill>
                  <a:schemeClr val="dk1"/>
                </a:solidFill>
              </a:rPr>
              <a:t>Sürekli </a:t>
            </a:r>
            <a:r>
              <a:rPr lang="tr" sz="1600" dirty="0">
                <a:solidFill>
                  <a:schemeClr val="dk1"/>
                </a:solidFill>
              </a:rPr>
              <a:t>sayısal veriler, 5 farklı kategorik zaman dilimine (</a:t>
            </a:r>
            <a:r>
              <a:rPr lang="tr" sz="12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TIME_OF_DAY</a:t>
            </a:r>
            <a:r>
              <a:rPr lang="tr" sz="1200" dirty="0">
                <a:solidFill>
                  <a:schemeClr val="dk1"/>
                </a:solidFill>
              </a:rPr>
              <a:t>) </a:t>
            </a:r>
            <a:r>
              <a:rPr lang="tr" sz="1600" dirty="0">
                <a:solidFill>
                  <a:schemeClr val="dk1"/>
                </a:solidFill>
              </a:rPr>
              <a:t>dönüştürülmüştür. Bu işlem, modelin günün bölümlerine göre gecikme örüntülerini daha iyi öğrenmesini </a:t>
            </a:r>
            <a:r>
              <a:rPr lang="tr" sz="1600" dirty="0" smtClean="0">
                <a:solidFill>
                  <a:schemeClr val="dk1"/>
                </a:solidFill>
              </a:rPr>
              <a:t>sağlar</a:t>
            </a:r>
          </a:p>
          <a:p>
            <a:endParaRPr lang="tr-TR" sz="16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3219449" y="857250"/>
            <a:ext cx="2219325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tr-TR" sz="1600" b="1" dirty="0" err="1" smtClean="0">
                <a:solidFill>
                  <a:schemeClr val="dk1"/>
                </a:solidFill>
              </a:rPr>
              <a:t>Target</a:t>
            </a:r>
            <a:r>
              <a:rPr lang="tr-TR" sz="1600" b="1" dirty="0" smtClean="0">
                <a:solidFill>
                  <a:schemeClr val="dk1"/>
                </a:solidFill>
              </a:rPr>
              <a:t> </a:t>
            </a:r>
            <a:r>
              <a:rPr lang="tr-TR" sz="1600" b="1" dirty="0" err="1">
                <a:solidFill>
                  <a:schemeClr val="dk1"/>
                </a:solidFill>
              </a:rPr>
              <a:t>Encoding</a:t>
            </a:r>
            <a:r>
              <a:rPr lang="tr-TR" sz="1600" b="1" dirty="0">
                <a:solidFill>
                  <a:schemeClr val="dk1"/>
                </a:solidFill>
              </a:rPr>
              <a:t>:</a:t>
            </a:r>
            <a:r>
              <a:rPr lang="tr-TR" sz="1600" dirty="0">
                <a:solidFill>
                  <a:schemeClr val="dk1"/>
                </a:solidFill>
              </a:rPr>
              <a:t> </a:t>
            </a:r>
            <a:r>
              <a:rPr lang="tr-TR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tr-TR" sz="1600" dirty="0">
                <a:solidFill>
                  <a:schemeClr val="dk1"/>
                </a:solidFill>
              </a:rPr>
              <a:t>üksek boyutlu değişkenler için ortalama gecikme oranı hesaplanarak sayısal bir değere dönüştürülmüştür. Bu sayede veri setinde yüzlerce yeni sütun oluşması engellenerek kategorik bilgi korunmuştur</a:t>
            </a:r>
            <a:r>
              <a:rPr lang="tr-TR" sz="1600" dirty="0" smtClean="0">
                <a:solidFill>
                  <a:schemeClr val="dk1"/>
                </a:solidFill>
              </a:rPr>
              <a:t>.</a:t>
            </a:r>
            <a:endParaRPr lang="tr-TR" sz="1600" dirty="0">
              <a:solidFill>
                <a:schemeClr val="dk1"/>
              </a:solidFill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5938837" y="962025"/>
            <a:ext cx="2219325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tr" sz="1800" b="1" dirty="0" smtClean="0">
                <a:solidFill>
                  <a:schemeClr val="dk1"/>
                </a:solidFill>
              </a:rPr>
              <a:t>One-Hot </a:t>
            </a:r>
            <a:r>
              <a:rPr lang="tr" sz="1800" b="1" dirty="0">
                <a:solidFill>
                  <a:schemeClr val="dk1"/>
                </a:solidFill>
              </a:rPr>
              <a:t>Encoding:</a:t>
            </a:r>
            <a:r>
              <a:rPr lang="tr" sz="1800" dirty="0">
                <a:solidFill>
                  <a:schemeClr val="dk1"/>
                </a:solidFill>
              </a:rPr>
              <a:t> Düşük sınıf sayısına sahip olan değişkenler, modelin bu kategoriler arasındaki farkı net bir şekilde öğrenebilmesi için binary vektörlere </a:t>
            </a:r>
            <a:r>
              <a:rPr lang="tr" sz="1800" dirty="0" smtClean="0">
                <a:solidFill>
                  <a:schemeClr val="dk1"/>
                </a:solidFill>
              </a:rPr>
              <a:t>dönüştürülmüştür</a:t>
            </a:r>
          </a:p>
        </p:txBody>
      </p:sp>
      <p:sp>
        <p:nvSpPr>
          <p:cNvPr id="4" name="Metin kutusu 3"/>
          <p:cNvSpPr txBox="1"/>
          <p:nvPr/>
        </p:nvSpPr>
        <p:spPr>
          <a:xfrm>
            <a:off x="1500185" y="4082781"/>
            <a:ext cx="5548314" cy="8002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tr-TR" sz="1600" b="1" dirty="0">
                <a:solidFill>
                  <a:schemeClr val="dk1"/>
                </a:solidFill>
              </a:rPr>
              <a:t>Veri Entegrasyonu:</a:t>
            </a:r>
            <a:r>
              <a:rPr lang="tr-TR" sz="1600" dirty="0">
                <a:solidFill>
                  <a:schemeClr val="dk1"/>
                </a:solidFill>
              </a:rPr>
              <a:t> Kullanılan tablolar birleştirilerek havayolu ve havalimanı özellikleri analize dahil edilmiştir.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 title="Ekran Resmi 2025-12-21 18.12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25" y="148650"/>
            <a:ext cx="3848700" cy="4708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5" name="Google Shape;95;p19" title="Ekran Resmi 2025-12-21 18.13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6150" y="148651"/>
            <a:ext cx="3793350" cy="4708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Train -test split oranı nedir?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-145500" y="11820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tr" sz="1800" dirty="0">
                <a:solidFill>
                  <a:schemeClr val="dk1"/>
                </a:solidFill>
              </a:rPr>
              <a:t>Veri madenciliği sürecinde modelin başarısını tarafsız bir şekilde ölçebilmek için veri seti </a:t>
            </a:r>
            <a:r>
              <a:rPr lang="tr" sz="1800" b="1" dirty="0">
                <a:solidFill>
                  <a:schemeClr val="dk1"/>
                </a:solidFill>
              </a:rPr>
              <a:t>Training</a:t>
            </a:r>
            <a:r>
              <a:rPr lang="tr" sz="1800" dirty="0">
                <a:solidFill>
                  <a:schemeClr val="dk1"/>
                </a:solidFill>
              </a:rPr>
              <a:t> ve </a:t>
            </a:r>
            <a:r>
              <a:rPr lang="tr" sz="1800" b="1" dirty="0">
                <a:solidFill>
                  <a:schemeClr val="dk1"/>
                </a:solidFill>
              </a:rPr>
              <a:t>Test</a:t>
            </a:r>
            <a:r>
              <a:rPr lang="tr" sz="1800" dirty="0">
                <a:solidFill>
                  <a:schemeClr val="dk1"/>
                </a:solidFill>
              </a:rPr>
              <a:t> olmak üzere iki ana bölüme ayrılmıştır</a:t>
            </a:r>
            <a:r>
              <a:rPr lang="tr" sz="1800" dirty="0" smtClean="0">
                <a:solidFill>
                  <a:schemeClr val="dk1"/>
                </a:solidFill>
              </a:rPr>
              <a:t>.</a:t>
            </a:r>
          </a:p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tr" sz="1800" dirty="0">
                <a:solidFill>
                  <a:schemeClr val="dk1"/>
                </a:solidFill>
              </a:rPr>
              <a:t>5.8 milyon satırlık büyük bir veri setiyle çalışıldığı için, modelin daha fazla veriyle öğrenmesini sağlamak ve yüksek varyans riskini azaltmak amacıyla </a:t>
            </a:r>
            <a:r>
              <a:rPr lang="tr" sz="1800" b="1" dirty="0">
                <a:solidFill>
                  <a:schemeClr val="dk1"/>
                </a:solidFill>
              </a:rPr>
              <a:t>%80 Eğitim - %20 Test</a:t>
            </a:r>
            <a:r>
              <a:rPr lang="tr" sz="1800" dirty="0">
                <a:solidFill>
                  <a:schemeClr val="dk1"/>
                </a:solidFill>
              </a:rPr>
              <a:t> stratejisi benimsenmiştir.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t="15406" b="-8"/>
          <a:stretch/>
        </p:blipFill>
        <p:spPr>
          <a:xfrm>
            <a:off x="4797250" y="3606412"/>
            <a:ext cx="4035050" cy="71270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250" y="3402041"/>
            <a:ext cx="4035050" cy="11214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-43000" y="-72275"/>
            <a:ext cx="71226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Performance metrikler nelerdir?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466725" y="874500"/>
            <a:ext cx="3333750" cy="1906800"/>
          </a:xfrm>
          <a:prstGeom prst="rect">
            <a:avLst/>
          </a:prstGeom>
          <a:gradFill>
            <a:gsLst>
              <a:gs pos="0">
                <a:schemeClr val="bg2">
                  <a:lumMod val="33000"/>
                  <a:lumOff val="67000"/>
                  <a:alpha val="35000"/>
                </a:schemeClr>
              </a:gs>
              <a:gs pos="26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5000" b="1" dirty="0"/>
              <a:t>Accuracy</a:t>
            </a:r>
            <a:endParaRPr sz="50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600" dirty="0"/>
              <a:t>Yapılan tahminlerden kaç tanesinin doğru olduğunu gösteren en temel metriktir</a:t>
            </a: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4294967295"/>
          </p:nvPr>
        </p:nvSpPr>
        <p:spPr>
          <a:xfrm>
            <a:off x="428625" y="2891291"/>
            <a:ext cx="3352799" cy="190658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5000" b="1" dirty="0"/>
              <a:t>F1 Score</a:t>
            </a:r>
            <a:endParaRPr sz="50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600" dirty="0"/>
              <a:t>Precision ve Recall değerlerinin harmonik ortalamasıdır</a:t>
            </a: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4294967295"/>
          </p:nvPr>
        </p:nvSpPr>
        <p:spPr>
          <a:xfrm>
            <a:off x="4711336" y="838200"/>
            <a:ext cx="3070589" cy="184785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5000" b="1" dirty="0"/>
              <a:t>ROC AUC</a:t>
            </a:r>
            <a:endParaRPr sz="50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600" dirty="0"/>
              <a:t>Geciken ve gecikmeyen sınıfların birbirinden ayırt etme yeteneğini ölçer</a:t>
            </a: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4294967295"/>
          </p:nvPr>
        </p:nvSpPr>
        <p:spPr>
          <a:xfrm>
            <a:off x="4657724" y="2926398"/>
            <a:ext cx="3114675" cy="190658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5000" b="1" dirty="0"/>
              <a:t>PR AUC</a:t>
            </a:r>
            <a:endParaRPr sz="50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4600" dirty="0"/>
              <a:t>Modelin gecikmeleri ne kadar kaliteli tahmin ettiğini doğrudan </a:t>
            </a:r>
            <a:r>
              <a:rPr lang="tr" sz="4600" dirty="0" smtClean="0"/>
              <a:t>gösterir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En İyi Model: RandomForestClassifier</a:t>
            </a: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2035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 b="1" dirty="0">
                <a:solidFill>
                  <a:schemeClr val="dk1"/>
                </a:solidFill>
              </a:rPr>
              <a:t>Geliştiren:</a:t>
            </a:r>
            <a:r>
              <a:rPr lang="tr" sz="1600" dirty="0">
                <a:solidFill>
                  <a:schemeClr val="dk1"/>
                </a:solidFill>
              </a:rPr>
              <a:t> Zekeriya Deniz Uğurlu.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 b="1" dirty="0">
                <a:solidFill>
                  <a:schemeClr val="dk1"/>
                </a:solidFill>
              </a:rPr>
              <a:t>Yaklaşım:</a:t>
            </a:r>
            <a:r>
              <a:rPr lang="tr" sz="1600" dirty="0">
                <a:solidFill>
                  <a:schemeClr val="dk1"/>
                </a:solidFill>
              </a:rPr>
              <a:t> Bagging yöntemi kullanılarak çok sayıda karar ağacı ile aşırı öğrenme (overfitting) riski minimize edilmiştir.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 b="1" dirty="0">
                <a:solidFill>
                  <a:schemeClr val="dk1"/>
                </a:solidFill>
              </a:rPr>
              <a:t>Hiperparametre Optimizasyonu:</a:t>
            </a:r>
            <a:r>
              <a:rPr lang="tr" sz="1600" dirty="0">
                <a:solidFill>
                  <a:schemeClr val="dk1"/>
                </a:solidFill>
              </a:rPr>
              <a:t> </a:t>
            </a:r>
            <a:r>
              <a:rPr lang="tr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RandomizedSearchCV</a:t>
            </a:r>
            <a:r>
              <a:rPr lang="tr" sz="1600" dirty="0">
                <a:solidFill>
                  <a:schemeClr val="dk1"/>
                </a:solidFill>
              </a:rPr>
              <a:t> yöntemi ve </a:t>
            </a:r>
            <a:r>
              <a:rPr lang="tr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ROC-AUC</a:t>
            </a:r>
            <a:r>
              <a:rPr lang="tr" sz="1600" dirty="0">
                <a:solidFill>
                  <a:schemeClr val="dk1"/>
                </a:solidFill>
              </a:rPr>
              <a:t> optimizasyon metriği kullanılmıştır.</a:t>
            </a:r>
            <a:br>
              <a:rPr lang="tr" sz="1600" dirty="0">
                <a:solidFill>
                  <a:schemeClr val="dk1"/>
                </a:solidFill>
              </a:rPr>
            </a:b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 b="1" dirty="0">
                <a:solidFill>
                  <a:schemeClr val="dk1"/>
                </a:solidFill>
              </a:rPr>
              <a:t>Sınıf Dengesizliği Yönetimi:</a:t>
            </a:r>
            <a:r>
              <a:rPr lang="tr" sz="1600" dirty="0">
                <a:solidFill>
                  <a:schemeClr val="dk1"/>
                </a:solidFill>
              </a:rPr>
              <a:t> Azınlık sınıfı (gecikmeler) olan "1" sınıfına 3 kat daha fazla ağırlık verilerek (</a:t>
            </a:r>
            <a:r>
              <a:rPr lang="tr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class_weight: {0:1</a:t>
            </a:r>
            <a:r>
              <a:rPr lang="tr" sz="16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tr" sz="16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1:3}</a:t>
            </a:r>
            <a:r>
              <a:rPr lang="tr" sz="1600" dirty="0">
                <a:solidFill>
                  <a:schemeClr val="dk1"/>
                </a:solidFill>
              </a:rPr>
              <a:t>) modelin gecikmeleri yakalama hassasiyeti artırılmıştır.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 b="1" dirty="0">
                <a:solidFill>
                  <a:schemeClr val="dk1"/>
                </a:solidFill>
              </a:rPr>
              <a:t>Özellik Seti:</a:t>
            </a:r>
            <a:r>
              <a:rPr lang="tr" sz="1600" dirty="0">
                <a:solidFill>
                  <a:schemeClr val="dk1"/>
                </a:solidFill>
              </a:rPr>
              <a:t> PCA ve RFE gibi yöntemlerle gürültüden arındırılmış veri setleri üzerinde test edilmiştir.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139" y="1200150"/>
            <a:ext cx="1361684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224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dirty="0"/>
              <a:t>Modellerin </a:t>
            </a:r>
            <a:r>
              <a:rPr lang="tr" dirty="0" smtClean="0"/>
              <a:t>Karşılaştırıldığı </a:t>
            </a:r>
            <a:r>
              <a:rPr lang="tr" dirty="0"/>
              <a:t>T</a:t>
            </a:r>
            <a:r>
              <a:rPr lang="tr" dirty="0" smtClean="0"/>
              <a:t>ablo</a:t>
            </a:r>
            <a:endParaRPr dirty="0"/>
          </a:p>
        </p:txBody>
      </p:sp>
      <p:pic>
        <p:nvPicPr>
          <p:cNvPr id="124" name="Google Shape;124;p23" title="Ekran görüntüsü 2025-12-21 1719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700" y="1028700"/>
            <a:ext cx="6623050" cy="37701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Metin kutusu 1"/>
          <p:cNvSpPr txBox="1"/>
          <p:nvPr/>
        </p:nvSpPr>
        <p:spPr>
          <a:xfrm>
            <a:off x="1219200" y="2390578"/>
            <a:ext cx="6115050" cy="70788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" dirty="0"/>
              <a:t>Sonuç ve </a:t>
            </a:r>
            <a:r>
              <a:rPr lang="tr" dirty="0" smtClean="0"/>
              <a:t>Değerlendirme</a:t>
            </a:r>
            <a:endParaRPr dirty="0"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-9525" y="8191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 b="1" dirty="0">
                <a:solidFill>
                  <a:schemeClr val="dk1"/>
                </a:solidFill>
              </a:rPr>
              <a:t>Başarı Kriterleri:</a:t>
            </a:r>
            <a:r>
              <a:rPr lang="tr" sz="1600" dirty="0">
                <a:solidFill>
                  <a:schemeClr val="dk1"/>
                </a:solidFill>
              </a:rPr>
              <a:t> RandomForestClassifier; %80 doğruluk, 0.20 F1 ve 0.70 ROC AUC barajlarını aynı anda geçen tek model olmuştur.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 b="1" dirty="0">
                <a:solidFill>
                  <a:schemeClr val="dk1"/>
                </a:solidFill>
              </a:rPr>
              <a:t>Sınıf Dengesizliği Etkisi:</a:t>
            </a:r>
            <a:r>
              <a:rPr lang="tr" sz="1600" dirty="0">
                <a:solidFill>
                  <a:schemeClr val="dk1"/>
                </a:solidFill>
              </a:rPr>
              <a:t> Sadece doğruluğa (Accuracy) odaklanmanın yanıltıcı olduğu; örneğin Emine Güneş'in modelinin yüksek doğruluğa rağmen çok düşük F1 skoruna sahip olmasıyla kanıtlanmıştır.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 b="1" dirty="0">
                <a:solidFill>
                  <a:schemeClr val="dk1"/>
                </a:solidFill>
              </a:rPr>
              <a:t>Veri Sızıntısı:</a:t>
            </a:r>
            <a:r>
              <a:rPr lang="tr" sz="1600" dirty="0">
                <a:solidFill>
                  <a:schemeClr val="dk1"/>
                </a:solidFill>
              </a:rPr>
              <a:t> </a:t>
            </a:r>
            <a:r>
              <a:rPr lang="tr" sz="1600" dirty="0" smtClean="0">
                <a:solidFill>
                  <a:schemeClr val="dk1"/>
                </a:solidFill>
                <a:ea typeface="Roboto Mono"/>
                <a:sym typeface="Roboto Mono"/>
              </a:rPr>
              <a:t>Sızıntı</a:t>
            </a:r>
            <a:r>
              <a:rPr lang="tr" sz="1600" dirty="0">
                <a:solidFill>
                  <a:schemeClr val="dk1"/>
                </a:solidFill>
                <a:latin typeface="Roboto Mono"/>
                <a:ea typeface="Roboto Mono"/>
                <a:sym typeface="Roboto Mono"/>
              </a:rPr>
              <a:t> </a:t>
            </a:r>
            <a:r>
              <a:rPr lang="tr" sz="1600" dirty="0" smtClean="0">
                <a:solidFill>
                  <a:schemeClr val="dk1"/>
                </a:solidFill>
              </a:rPr>
              <a:t>sütunların </a:t>
            </a:r>
            <a:r>
              <a:rPr lang="tr" sz="1600" dirty="0">
                <a:solidFill>
                  <a:schemeClr val="dk1"/>
                </a:solidFill>
              </a:rPr>
              <a:t>temizlenmesi, modelin gerçek dünya verileriyle çalışabilmesi için kritik bir adım olmuştur.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 b="1" dirty="0">
                <a:solidFill>
                  <a:schemeClr val="dk1"/>
                </a:solidFill>
              </a:rPr>
              <a:t>Son Söz:</a:t>
            </a:r>
            <a:r>
              <a:rPr lang="tr" sz="1600" dirty="0">
                <a:solidFill>
                  <a:schemeClr val="dk1"/>
                </a:solidFill>
              </a:rPr>
              <a:t> Modelimiz, yüksek boyutlu ve dengesiz bir veri setinde uçuş gecikmelerini ayırt edebilecek kararlı bir performans sergilemiştir.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3467100"/>
            <a:ext cx="188595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311700" y="495300"/>
            <a:ext cx="8520600" cy="4073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tr-TR" dirty="0" smtClean="0"/>
              <a:t> </a:t>
            </a:r>
            <a:endParaRPr dirty="0"/>
          </a:p>
        </p:txBody>
      </p:sp>
      <p:sp>
        <p:nvSpPr>
          <p:cNvPr id="2" name="Dikdörtgen 1"/>
          <p:cNvSpPr/>
          <p:nvPr/>
        </p:nvSpPr>
        <p:spPr>
          <a:xfrm>
            <a:off x="348615" y="1060319"/>
            <a:ext cx="8258175" cy="32932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tr-TR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Dinlediğiniz İçin Teşekkür Ederiz</a:t>
            </a:r>
          </a:p>
          <a:p>
            <a:pPr algn="ctr"/>
            <a:r>
              <a:rPr lang="tr-TR" sz="2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anose="05000000000000000000" pitchFamily="2" charset="2"/>
              </a:rPr>
              <a:t>Emine Güneş- 22040101036</a:t>
            </a:r>
          </a:p>
          <a:p>
            <a:pPr algn="ctr"/>
            <a:r>
              <a:rPr lang="tr-TR" sz="2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anose="05000000000000000000" pitchFamily="2" charset="2"/>
              </a:rPr>
              <a:t> Mert Oruç-22040101035</a:t>
            </a:r>
          </a:p>
          <a:p>
            <a:pPr algn="ctr"/>
            <a:r>
              <a:rPr lang="tr-TR" sz="2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anose="05000000000000000000" pitchFamily="2" charset="2"/>
              </a:rPr>
              <a:t> Enes İnal-22040101023</a:t>
            </a:r>
          </a:p>
          <a:p>
            <a:pPr algn="ctr"/>
            <a:r>
              <a:rPr lang="tr-TR" sz="2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anose="05000000000000000000" pitchFamily="2" charset="2"/>
              </a:rPr>
              <a:t>Deniz Uğurlu-22040101034</a:t>
            </a:r>
          </a:p>
          <a:p>
            <a:pPr algn="ctr"/>
            <a:r>
              <a:rPr lang="tr-TR" sz="2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anose="05000000000000000000" pitchFamily="2" charset="2"/>
              </a:rPr>
              <a:t>Oğuzhan Özdemir-22040101017</a:t>
            </a:r>
            <a:endParaRPr lang="tr-TR" sz="2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Dalga Biçimi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182</TotalTime>
  <Words>500</Words>
  <Application>Microsoft Office PowerPoint</Application>
  <PresentationFormat>Ekran Gösterisi (16:9)</PresentationFormat>
  <Paragraphs>84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20" baseType="lpstr">
      <vt:lpstr>Arial</vt:lpstr>
      <vt:lpstr>Cambria</vt:lpstr>
      <vt:lpstr>Wingdings</vt:lpstr>
      <vt:lpstr>Times New Roman</vt:lpstr>
      <vt:lpstr>Calibri</vt:lpstr>
      <vt:lpstr>Roboto Mono</vt:lpstr>
      <vt:lpstr>Bitişiklik</vt:lpstr>
      <vt:lpstr>   FET445 Veri Madenciliği</vt:lpstr>
      <vt:lpstr>UÇUŞ GECİKME TAHMİNİ </vt:lpstr>
      <vt:lpstr>Veri Seti Açıklaması:</vt:lpstr>
      <vt:lpstr>Size, özellik tipi </vt:lpstr>
      <vt:lpstr>Class Distribution (sınıflandırma ise) </vt:lpstr>
      <vt:lpstr>Temel Kullanılan Teknikler </vt:lpstr>
      <vt:lpstr>PowerPoint Sunusu</vt:lpstr>
      <vt:lpstr>Train -test split oranı nedir?</vt:lpstr>
      <vt:lpstr>Performance metrikler nelerdir?</vt:lpstr>
      <vt:lpstr>En İyi Model: RandomForestClassifier</vt:lpstr>
      <vt:lpstr>Modellerin Karşılaştırıldığı Tablo</vt:lpstr>
      <vt:lpstr>Sonuç ve Değerlendirme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FET445 Veri Madenciliği</dc:title>
  <dc:creator>USER</dc:creator>
  <cp:lastModifiedBy>USER</cp:lastModifiedBy>
  <cp:revision>8</cp:revision>
  <dcterms:modified xsi:type="dcterms:W3CDTF">2025-12-24T19:07:50Z</dcterms:modified>
</cp:coreProperties>
</file>